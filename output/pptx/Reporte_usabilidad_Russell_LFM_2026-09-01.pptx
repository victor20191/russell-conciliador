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eb42db41e84af6" /><Relationship Type="http://schemas.openxmlformats.org/officeDocument/2006/relationships/extended-properties" Target="/docProps/app.xml" Id="R2ca6bbe042614409" /><Relationship Type="http://schemas.openxmlformats.org/officeDocument/2006/relationships/officeDocument" Target="/ppt/presentation.xml" Id="R16c22e7549f4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62fc8adabb4552"/>
  </p:sldMasterIdLst>
  <p:notesMasterIdLst>
    <p:notesMasterId xmlns:r="http://schemas.openxmlformats.org/officeDocument/2006/relationships" r:id="R078c3c38997d44a9"/>
  </p:notesMasterIdLst>
  <p:sldIdLst>
    <p:sldId xmlns:r="http://schemas.openxmlformats.org/officeDocument/2006/relationships" id="256" r:id="R53dd3a3b60f24deb"/>
    <p:sldId xmlns:r="http://schemas.openxmlformats.org/officeDocument/2006/relationships" id="257" r:id="Rd377226d1e944240"/>
    <p:sldId xmlns:r="http://schemas.openxmlformats.org/officeDocument/2006/relationships" id="258" r:id="R81134c8393ec43d2"/>
    <p:sldId xmlns:r="http://schemas.openxmlformats.org/officeDocument/2006/relationships" id="259" r:id="R015228e3e84a421f"/>
    <p:sldId xmlns:r="http://schemas.openxmlformats.org/officeDocument/2006/relationships" id="260" r:id="R3947f182dbb34b8d"/>
    <p:sldId xmlns:r="http://schemas.openxmlformats.org/officeDocument/2006/relationships" id="261" r:id="R8ffc9209eb4a47e2"/>
    <p:sldId xmlns:r="http://schemas.openxmlformats.org/officeDocument/2006/relationships" id="262" r:id="R9fd7532e02d14302"/>
    <p:sldId xmlns:r="http://schemas.openxmlformats.org/officeDocument/2006/relationships" id="263" r:id="R72172d75b4924e31"/>
    <p:sldId xmlns:r="http://schemas.openxmlformats.org/officeDocument/2006/relationships" id="264" r:id="Raf94a140f4784eda"/>
    <p:sldId xmlns:r="http://schemas.openxmlformats.org/officeDocument/2006/relationships" id="265" r:id="R73114a69a6ce41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a2ea1ef859421e" /><Relationship Type="http://schemas.openxmlformats.org/officeDocument/2006/relationships/slideMaster" Target="/ppt/slideMasters/slideMaster1.xml" Id="R6a62fc8adabb4552" /><Relationship Type="http://schemas.openxmlformats.org/officeDocument/2006/relationships/notesMaster" Target="/ppt/notesMasters/notesMaster1.xml" Id="R078c3c38997d44a9" /><Relationship Type="http://schemas.openxmlformats.org/officeDocument/2006/relationships/presProps" Target="/ppt/presProps.xml" Id="R9c78484a06d14ca3" /><Relationship Type="http://schemas.openxmlformats.org/officeDocument/2006/relationships/tableStyles" Target="/ppt/tableStyles.xml" Id="R377af5ed13e44345" /><Relationship Type="http://schemas.openxmlformats.org/officeDocument/2006/relationships/slide" Target="/ppt/slides/slide1.xml" Id="R53dd3a3b60f24deb" /><Relationship Type="http://schemas.openxmlformats.org/officeDocument/2006/relationships/slide" Target="/ppt/slides/slide2.xml" Id="Rd377226d1e944240" /><Relationship Type="http://schemas.openxmlformats.org/officeDocument/2006/relationships/slide" Target="/ppt/slides/slide3.xml" Id="R81134c8393ec43d2" /><Relationship Type="http://schemas.openxmlformats.org/officeDocument/2006/relationships/slide" Target="/ppt/slides/slide4.xml" Id="R015228e3e84a421f" /><Relationship Type="http://schemas.openxmlformats.org/officeDocument/2006/relationships/slide" Target="/ppt/slides/slide5.xml" Id="R3947f182dbb34b8d" /><Relationship Type="http://schemas.openxmlformats.org/officeDocument/2006/relationships/slide" Target="/ppt/slides/slide6.xml" Id="R8ffc9209eb4a47e2" /><Relationship Type="http://schemas.openxmlformats.org/officeDocument/2006/relationships/slide" Target="/ppt/slides/slide7.xml" Id="R9fd7532e02d14302" /><Relationship Type="http://schemas.openxmlformats.org/officeDocument/2006/relationships/slide" Target="/ppt/slides/slide8.xml" Id="R72172d75b4924e31" /><Relationship Type="http://schemas.openxmlformats.org/officeDocument/2006/relationships/slide" Target="/ppt/slides/slide9.xml" Id="Raf94a140f4784eda" /><Relationship Type="http://schemas.openxmlformats.org/officeDocument/2006/relationships/slide" Target="/ppt/slides/slide10.xml" Id="R73114a69a6ce41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6d1cfaccfb4e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cddf97938a4f7b" /><Relationship Type="http://schemas.openxmlformats.org/officeDocument/2006/relationships/notesMaster" Target="/ppt/notesMasters/notesMaster1.xml" Id="R991494280ca54a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d2715c35174d64" /><Relationship Type="http://schemas.openxmlformats.org/officeDocument/2006/relationships/notesMaster" Target="/ppt/notesMasters/notesMaster1.xml" Id="R1835f2b5ae3c47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799a6584704e3d" /><Relationship Type="http://schemas.openxmlformats.org/officeDocument/2006/relationships/notesMaster" Target="/ppt/notesMasters/notesMaster1.xml" Id="R4a3178ca83d946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3de124f724659" /><Relationship Type="http://schemas.openxmlformats.org/officeDocument/2006/relationships/notesMaster" Target="/ppt/notesMasters/notesMaster1.xml" Id="Re80419b057814c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14ad54ba334c7d" /><Relationship Type="http://schemas.openxmlformats.org/officeDocument/2006/relationships/notesMaster" Target="/ppt/notesMasters/notesMaster1.xml" Id="R3d4cd46809ee4d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0590c631f141d4" /><Relationship Type="http://schemas.openxmlformats.org/officeDocument/2006/relationships/notesMaster" Target="/ppt/notesMasters/notesMaster1.xml" Id="Ra98413017d704e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d7f81cca814504" /><Relationship Type="http://schemas.openxmlformats.org/officeDocument/2006/relationships/notesMaster" Target="/ppt/notesMasters/notesMaster1.xml" Id="Rfedbf63af7cd47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c4ebd3abef4ab7" /><Relationship Type="http://schemas.openxmlformats.org/officeDocument/2006/relationships/notesMaster" Target="/ppt/notesMasters/notesMaster1.xml" Id="R9bf775a23baf45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bb4a72b5d84ff8" /><Relationship Type="http://schemas.openxmlformats.org/officeDocument/2006/relationships/notesMaster" Target="/ppt/notesMasters/notesMaster1.xml" Id="R49eb1c988c584a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7d39f887a64384" /><Relationship Type="http://schemas.openxmlformats.org/officeDocument/2006/relationships/notesMaster" Target="/ppt/notesMasters/notesMaster1.xml" Id="R1d8edd4a27b64a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Acciones, navegaciones e ingresos se muestran como métricas separadas.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Definición de métricas: src/lib/auditoria/reporte-ejecutivo/metricas.ts.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Familias calculadas con clasificarFamilia() y filtradas a módulos publicados para todos.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Navegación agrupada por familia operativa publicada; rutas administrativas y no publicadas quedan fuera.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Serie semanal construida a partir de uso.serieDiaria del reporte ejecutivo.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Detalle de usuarios = unión de identidades con ingresos o acciones; automatizaciones conservan nombre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Detalle de usuarios = unión de identidades con ingresos o acciones; automatizaciones conservan nombre Sistema.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Acciones agrupadas por el texto estructurado de registros_auditoria.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Clientes identificados por clientId en registros_auditoria y resueltos contra la tabla de clientes.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BD Russell LFM, registros_auditoria y registros_acceso, periodo 3-ago a 01 de sept de 2026, 12:59; semántica de /config/reportes-ejecutivos.</a:t>
            </a:r>
          </a:p>
          <a:p xmlns:a="http://schemas.openxmlformats.org/drawingml/2006/main">
            <a:r>
              <a:t>- Sistema = identidades cuyo nombre comienza por Sistema; no se atribuyen a uso humano.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b918a644c4c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ed45c8a64435a" /><Relationship Type="http://schemas.openxmlformats.org/officeDocument/2006/relationships/slideLayout" Target="/ppt/slideLayouts/slideLayout1.xml" Id="R97d54e148d2344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54e148d2344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75ae61dae4727" /><Relationship Type="http://schemas.openxmlformats.org/officeDocument/2006/relationships/notesSlide" Target="/ppt/notesSlides/notesSlide1.xml" Id="R3c503d53bfde40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2f80a822448f0" /><Relationship Type="http://schemas.openxmlformats.org/officeDocument/2006/relationships/notesSlide" Target="/ppt/notesSlides/notesSlide2.xml" Id="R4f64fdef850943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e61f7f4b4a1b" /><Relationship Type="http://schemas.openxmlformats.org/officeDocument/2006/relationships/chart" Target="/ppt/slides/charts/chart1.xml" Id="R9460f5d270114007" /><Relationship Type="http://schemas.openxmlformats.org/officeDocument/2006/relationships/notesSlide" Target="/ppt/notesSlides/notesSlide3.xml" Id="R63099e089643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06d9b153c40a0" /><Relationship Type="http://schemas.openxmlformats.org/officeDocument/2006/relationships/chart" Target="/ppt/slides/charts/chart2.xml" Id="R3b7a4669c5d34a2b" /><Relationship Type="http://schemas.openxmlformats.org/officeDocument/2006/relationships/notesSlide" Target="/ppt/notesSlides/notesSlide4.xml" Id="Rd2ad4b3fc8fd42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3962d95644fe2" /><Relationship Type="http://schemas.openxmlformats.org/officeDocument/2006/relationships/chart" Target="/ppt/slides/charts/chart3.xml" Id="R98325dbecf8d4a4b" /><Relationship Type="http://schemas.openxmlformats.org/officeDocument/2006/relationships/notesSlide" Target="/ppt/notesSlides/notesSlide5.xml" Id="R0784bd2083394e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d4ee49b254f0b" /><Relationship Type="http://schemas.openxmlformats.org/officeDocument/2006/relationships/notesSlide" Target="/ppt/notesSlides/notesSlide6.xml" Id="Rdb41208aecc4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738f39936430d" /><Relationship Type="http://schemas.openxmlformats.org/officeDocument/2006/relationships/notesSlide" Target="/ppt/notesSlides/notesSlide7.xml" Id="Rb7e1b39d322640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b988e871545a8" /><Relationship Type="http://schemas.openxmlformats.org/officeDocument/2006/relationships/chart" Target="/ppt/slides/charts/chart4.xml" Id="R0e5a1d8d20a94a3b" /><Relationship Type="http://schemas.openxmlformats.org/officeDocument/2006/relationships/notesSlide" Target="/ppt/notesSlides/notesSlide8.xml" Id="R923531fcc59e4e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cf08cb0d94fe3" /><Relationship Type="http://schemas.openxmlformats.org/officeDocument/2006/relationships/chart" Target="/ppt/slides/charts/chart5.xml" Id="Rc87d22129d0f4c55" /><Relationship Type="http://schemas.openxmlformats.org/officeDocument/2006/relationships/notesSlide" Target="/ppt/notesSlides/notesSlide9.xml" Id="Rea3e9d039ded4b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90d72d23f24617" /><Relationship Type="http://schemas.openxmlformats.org/officeDocument/2006/relationships/notesSlide" Target="/ppt/notesSlides/notesSlide10.xml" Id="Re6a765a686f44ec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Acciones</c:v>
          </c:tx>
          <c:spPr>
            <a:solidFill xmlns:a="http://schemas.openxmlformats.org/drawingml/2006/main">
              <a:srgbClr val="2F6FA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1F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C9BD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C9BD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5C9BD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5C9BD0"/>
              </a:solidFill>
            </c:spPr>
          </c:dPt>
          <c:cat>
            <c:strLit>
              <c:ptCount val="6"/>
              <c:pt idx="0">
                <c:v>Balance de comprobación</c:v>
              </c:pt>
              <c:pt idx="1">
                <c:v>Inventarios</c:v>
              </c:pt>
              <c:pt idx="2">
                <c:v>Administración de plataforma</c:v>
              </c:pt>
              <c:pt idx="3">
                <c:v>Mapeo de cuentas</c:v>
              </c:pt>
              <c:pt idx="4">
                <c:v>Otras acciones</c:v>
              </c:pt>
              <c:pt idx="5">
                <c:v>Usuarios y estructura</c:v>
              </c:pt>
            </c:strLit>
          </c:cat>
          <c:val>
            <c:numLit>
              <c:formatCode>General</c:formatCode>
              <c:ptCount val="6"/>
              <c:pt idx="0">
                <c:v>659</c:v>
              </c:pt>
              <c:pt idx="1">
                <c:v>137</c:v>
              </c:pt>
              <c:pt idx="2">
                <c:v>111</c:v>
              </c:pt>
              <c:pt idx="3">
                <c:v>53</c:v>
              </c:pt>
              <c:pt idx="4">
                <c:v>49</c:v>
              </c:pt>
              <c:pt idx="5">
                <c:v>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E172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0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E1721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Navegaciones</c:v>
          </c:tx>
          <c:spPr>
            <a:solidFill xmlns:a="http://schemas.openxmlformats.org/drawingml/2006/main">
              <a:srgbClr val="2F6FA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1F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C9BD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C9BD0"/>
              </a:solidFill>
            </c:spPr>
          </c:dPt>
          <c:cat>
            <c:strLit>
              <c:ptCount val="4"/>
              <c:pt idx="0">
                <c:v>Balance de comprobación</c:v>
              </c:pt>
              <c:pt idx="1">
                <c:v>Inventarios</c:v>
              </c:pt>
              <c:pt idx="2">
                <c:v>Mapeo de cuentas</c:v>
              </c:pt>
              <c:pt idx="3">
                <c:v>Clientes</c:v>
              </c:pt>
            </c:strLit>
          </c:cat>
          <c:val>
            <c:numLit>
              <c:formatCode>General</c:formatCode>
              <c:ptCount val="4"/>
              <c:pt idx="0">
                <c:v>1962</c:v>
              </c:pt>
              <c:pt idx="1">
                <c:v>1009</c:v>
              </c:pt>
              <c:pt idx="2">
                <c:v>144</c:v>
              </c:pt>
              <c:pt idx="3">
                <c:v>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E172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0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E1721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Acciones</c:v>
          </c:tx>
          <c:spPr>
            <a:ln xmlns:a="http://schemas.openxmlformats.org/drawingml/2006/main" w="38100">
              <a:solidFill>
                <a:srgbClr val="2F6FA7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2F6FA7"/>
              </a:solidFill>
            </c:spPr>
          </c:marker>
          <c:cat>
            <c:strLit>
              <c:ptCount val="5"/>
              <c:pt idx="0">
                <c:v>3–9 ago</c:v>
              </c:pt>
              <c:pt idx="1">
                <c:v>10–16 ago</c:v>
              </c:pt>
              <c:pt idx="2">
                <c:v>17–23 ago</c:v>
              </c:pt>
              <c:pt idx="3">
                <c:v>24–30 ago</c:v>
              </c:pt>
              <c:pt idx="4">
                <c:v>31 ago–1 sep</c:v>
              </c:pt>
            </c:strLit>
          </c:cat>
          <c:val>
            <c:numLit>
              <c:formatCode>General</c:formatCode>
              <c:ptCount val="5"/>
              <c:pt idx="0">
                <c:v>197</c:v>
              </c:pt>
              <c:pt idx="1">
                <c:v>77</c:v>
              </c:pt>
              <c:pt idx="2">
                <c:v>115</c:v>
              </c:pt>
              <c:pt idx="3">
                <c:v>371</c:v>
              </c:pt>
              <c:pt idx="4">
                <c:v>262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E1721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E172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0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273"/>
                </a:solidFill>
              </a:defRPr>
            </a:pPr>
          </a:p>
        </c:txPr>
        <c:crossAx val="48650112"/>
        <c:crossBetween val="between"/>
        <c:majorUnit val="100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Acciones</c:v>
          </c:tx>
          <c:spPr>
            <a:solidFill xmlns:a="http://schemas.openxmlformats.org/drawingml/2006/main">
              <a:srgbClr val="2F6FA7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0B1F3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A2E8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F6FA7"/>
              </a:solidFill>
            </c:spPr>
          </c:dPt>
          <c:cat>
            <c:strLit>
              <c:ptCount val="7"/>
              <c:pt idx="0">
                <c:v>ASIGNÓ CUENTA ESTÁNDAR</c:v>
              </c:pt>
              <c:pt idx="1">
                <c:v>RE-HOMOLOGÓ BALANCE</c:v>
              </c:pt>
              <c:pt idx="2">
                <c:v>VALIDÓ alerta de balance</c:v>
              </c:pt>
              <c:pt idx="3">
                <c:v>ACTUALIZÓ ESTADO DE REPORTE</c:v>
              </c:pt>
              <c:pt idx="4">
                <c:v>CARGÓ BALANCE</c:v>
              </c:pt>
              <c:pt idx="5">
                <c:v>GUARDÓ PERFIL de carga de bal…</c:v>
              </c:pt>
              <c:pt idx="6">
                <c:v>LEYÓ archivo de Inventarios</c:v>
              </c:pt>
            </c:strLit>
          </c:cat>
          <c:val>
            <c:numLit>
              <c:formatCode>General</c:formatCode>
              <c:ptCount val="7"/>
              <c:pt idx="0">
                <c:v>189</c:v>
              </c:pt>
              <c:pt idx="1">
                <c:v>119</c:v>
              </c:pt>
              <c:pt idx="2">
                <c:v>108</c:v>
              </c:pt>
              <c:pt idx="3">
                <c:v>95</c:v>
              </c:pt>
              <c:pt idx="4">
                <c:v>78</c:v>
              </c:pt>
              <c:pt idx="5">
                <c:v>69</c:v>
              </c:pt>
              <c:pt idx="6">
                <c:v>58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E172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0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6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E1721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Acciones</c:v>
          </c:tx>
          <c:spPr>
            <a:solidFill xmlns:a="http://schemas.openxmlformats.org/drawingml/2006/main">
              <a:srgbClr val="2F6FA7"/>
            </a:solidFill>
          </c:spPr>
          <c:cat>
            <c:strLit>
              <c:ptCount val="10"/>
              <c:pt idx="0">
                <c:v>REDPLAS S.A.S</c:v>
              </c:pt>
              <c:pt idx="1">
                <c:v>MOTO ZONE S.A.S.</c:v>
              </c:pt>
              <c:pt idx="2">
                <c:v>IGB MOTORCYCLE PARTS S.…</c:v>
              </c:pt>
              <c:pt idx="3">
                <c:v>MUMA S.A.S</c:v>
              </c:pt>
              <c:pt idx="4">
                <c:v>QUIFARMA S.A.S.</c:v>
              </c:pt>
              <c:pt idx="5">
                <c:v>IVANAGRO S.A.</c:v>
              </c:pt>
              <c:pt idx="6">
                <c:v>LABORATORIOS MINERALIN…</c:v>
              </c:pt>
              <c:pt idx="7">
                <c:v>GRUPO AUTOPARTES S.A.S.</c:v>
              </c:pt>
              <c:pt idx="8">
                <c:v>ACEROS MAPA S.A.</c:v>
              </c:pt>
              <c:pt idx="9">
                <c:v>EL ZARZAL S.A.</c:v>
              </c:pt>
            </c:strLit>
          </c:cat>
          <c:val>
            <c:numLit>
              <c:formatCode>General</c:formatCode>
              <c:ptCount val="10"/>
              <c:pt idx="0">
                <c:v>131</c:v>
              </c:pt>
              <c:pt idx="1">
                <c:v>78</c:v>
              </c:pt>
              <c:pt idx="2">
                <c:v>66</c:v>
              </c:pt>
              <c:pt idx="3">
                <c:v>51</c:v>
              </c:pt>
              <c:pt idx="4">
                <c:v>41</c:v>
              </c:pt>
              <c:pt idx="5">
                <c:v>30</c:v>
              </c:pt>
              <c:pt idx="6">
                <c:v>28</c:v>
              </c:pt>
              <c:pt idx="7">
                <c:v>22</c:v>
              </c:pt>
              <c:pt idx="8">
                <c:v>20</c:v>
              </c:pt>
              <c:pt idx="9">
                <c:v>19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E172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0E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6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0E1721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D6A8F-67DE-42C2-A394-43D2D30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C"/>
          </a:solidFill>
          <a:ln xmlns:a="http://schemas.openxmlformats.org/drawingml/2006/main" w="0">
            <a:solidFill>
              <a:srgbClr val="FBFB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786B3-6C8E-47DB-A049-1BE51B6C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7"/>
          </a:solidFill>
          <a:ln xmlns:a="http://schemas.openxmlformats.org/drawingml/2006/main" w="0">
            <a:solidFill>
              <a:srgbClr val="2F6FA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DEC1B-4EAD-47CF-AB92-E90CA59E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1200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0B1F3A"/>
                </a:solidFill>
              </a:defRPr>
            </a:pPr>
            <a:r>
              <a:t>RUSSELL LFM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42B3D-CA77-43B8-9072-BF8D215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76250"/>
            <a:ext cx="1333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 spc="1">
                <a:solidFill>
                  <a:srgbClr val="2F6FA7"/>
                </a:solidFill>
              </a:defRPr>
            </a:pPr>
            <a:r>
              <a:t>REPORTE EJECUTIVO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22709-3E6D-4763-827A-8F471522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135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 spc="1">
                <a:solidFill>
                  <a:srgbClr val="2F6FA7"/>
                </a:solidFill>
              </a:defRPr>
            </a:pPr>
            <a:r>
              <a:t>USO Y ADOPCIÓN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99EE4FE-BB68-44BD-8C2C-0A3B0340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66865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E1721"/>
                </a:solidFill>
              </a:defRPr>
            </a:pPr>
            <a:r>
              <a:t>Cómo se está usando la plataforma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44780-618A-4893-8EEC-B6AAB484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BD0"/>
          </a:solidFill>
          <a:ln xmlns:a="http://schemas.openxmlformats.org/drawingml/2006/main" w="0">
            <a:solidFill>
              <a:srgbClr val="5C9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2C0FB-41D9-4BC4-A18A-23BAF594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6686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66273"/>
                </a:solidFill>
              </a:defRPr>
            </a:pPr>
            <a:r>
              <a:t>Actividad real de los últimos 30 días: operaciones, navegación, ingresos y concentración por usuario.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38337-297F-4B2B-983A-5859A583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1695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DA3"/>
                </a:solidFill>
              </a:defRPr>
            </a:pPr>
            <a:r>
              <a:t>Fuente: PostgreSQL Russell LFM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260C74-E524-4BA5-82B3-01AB5A4D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72200"/>
            <a:ext cx="2209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C8DA3"/>
                </a:solidFill>
              </a:defRPr>
            </a:pPr>
            <a:r>
              <a:t>1 de septiembre de 2026 · America/Bogota</a:t>
            </a:r>
          </a:p>
        </p:txBody>
      </p:sp>
    </p:spTree>
    <p:extLst>
      <p:ext uri="{BB962C8B-B14F-4D97-AF65-F5344CB8AC3E}">
        <p14:creationId xmlns:p14="http://schemas.microsoft.com/office/powerpoint/2010/main" val="12085011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658B73-5D6F-470B-A5B7-C1FFBA50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1950"/>
            <a:ext cx="1123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La plataforma sostiene actividad operativa diaria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A161B-CB18-4781-B48E-B096E635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946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Corte de 30 días; la cifra de usuarios observados une quienes iniciaron sesión y quienes dejaron acciones auditables.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9DADB-A731-4984-A951-B67FC4CC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0"/>
            <a:ext cx="2038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F3A"/>
                </a:solidFill>
              </a:defRPr>
            </a:pPr>
            <a:r>
              <a:t>1.022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5ABE2-6F6E-4121-9D80-10F01A52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7100"/>
            <a:ext cx="20383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acciones auditables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B53C3-BA6F-42C5-8C36-CA4EB31F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2038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Trabajo confirmado en bitácora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DFC14-2D78-4471-ADE4-5198EC43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8300"/>
            <a:ext cx="20383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7"/>
          </a:solidFill>
          <a:ln xmlns:a="http://schemas.openxmlformats.org/drawingml/2006/main" w="0">
            <a:solidFill>
              <a:srgbClr val="DCE0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F25FD-7037-49E3-A98E-D8D42F14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2038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F6FA7"/>
                </a:solidFill>
              </a:defRPr>
            </a:pPr>
            <a:r>
              <a:t>3.140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5F8BE-69BC-45A4-A204-4E697FE9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8140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navegaciones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282DE-A79E-40BA-A27D-EFCF04D4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2038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Visitas a rutas operativas publicadas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59909-7B44-4F80-BC81-367763C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38300"/>
            <a:ext cx="20383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0E7"/>
          </a:solidFill>
          <a:ln xmlns:a="http://schemas.openxmlformats.org/drawingml/2006/main" w="0">
            <a:solidFill>
              <a:srgbClr val="DCE0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A34E7-D2F9-4634-AE74-35929706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95600"/>
            <a:ext cx="20383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F6B3F"/>
                </a:solidFill>
              </a:defRPr>
            </a:pPr>
            <a:r>
              <a:t>86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1A38B-CE43-4065-8523-E3B903D0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76650"/>
            <a:ext cx="2038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inicios de sesión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DA70E-CBFC-41DE-9A11-607BB46D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19550"/>
            <a:ext cx="2038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66273"/>
                </a:solidFill>
              </a:defRPr>
            </a:pPr>
            <a:r>
              <a:t>14 identidades observadas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27880-E714-47A8-AB15-853AF1478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26430"/>
            <a:ext cx="11239500" cy="5105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41B34-F52C-425A-A655-EC41676E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t>Estas métricas no se suman: navegar muestra consulta; la bitácora prueba operaciones; el ingreso mide sesiones.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AA713-2D23-41E5-9824-19B24A81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9E7DD8-EEC9-4E78-8E07-5F9B3ACA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2</a:t>
            </a:r>
          </a:p>
        </p:txBody>
      </p:sp>
    </p:spTree>
    <p:extLst>
      <p:ext uri="{BB962C8B-B14F-4D97-AF65-F5344CB8AC3E}">
        <p14:creationId xmlns:p14="http://schemas.microsoft.com/office/powerpoint/2010/main" val="1746631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4956DE-1D48-4F3C-AFF0-CB1BE9C0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Balance domina el trabajo; Inventarios amplía el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D1BE0-565B-4948-90D7-03821AB6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546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77,9% de las acciones auditables ocurren en Balance o Inventarios.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1875C-8E0C-46EF-BC7B-21DC3139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2080"/>
            <a:ext cx="7239000" cy="481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807A5-096F-4352-8924-2D1B347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38400"/>
            <a:ext cx="38671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F3A"/>
                </a:solidFill>
              </a:defRPr>
            </a:pPr>
            <a:r>
              <a:t>659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38BF1-85B9-45C3-8915-100D270E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3867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acciones en 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56B19-9BE0-4E52-883F-8114D586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38671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Inventarios suma 137 acciones; administración aporta 111, impulsada principalmente por gestión de reportes.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04703-48AC-4278-B597-81C9652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52950"/>
            <a:ext cx="1381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9BD0"/>
          </a:solidFill>
          <a:ln xmlns:a="http://schemas.openxmlformats.org/drawingml/2006/main" w="0">
            <a:solidFill>
              <a:srgbClr val="5C9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01375-E542-470D-8740-66559B97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62500"/>
            <a:ext cx="3867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E1721"/>
                </a:solidFill>
              </a:defRPr>
            </a:pPr>
            <a:r>
              <a:t>La operación contable sigue siendo el centro de gravedad.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DD9FE-9480-41FC-8803-9DF0EC8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BA7AA-F67E-4529-9726-7B3DD43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3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924050"/>
          <a:ext xmlns:a="http://schemas.openxmlformats.org/drawingml/2006/main" cx="6477000" cy="3543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60f5d270114007"/>
          </a:graphicData>
        </a:graphic>
      </p:graphicFrame>
    </p:spTree>
    <p:extLst>
      <p:ext uri="{BB962C8B-B14F-4D97-AF65-F5344CB8AC3E}">
        <p14:creationId xmlns:p14="http://schemas.microsoft.com/office/powerpoint/2010/main" val="1693008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BC1F9B-7282-4A81-A91D-F42F4C89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El 95% de las visitas operativas va a Balance e Inventarios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1AAA0-9CBA-4DF6-B0FA-606F0DB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7067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La navegación confirma que los usuarios vuelven repetidamente a los flujos principales.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F2886-6F4A-4CA0-AB0A-35CD9E8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667500" cy="4903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8BF58-B916-4F29-9194-97FA112D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4438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F6FA7"/>
                </a:solidFill>
              </a:defRPr>
            </a:pPr>
            <a:r>
              <a:t>94,6%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90D90-5FCE-4990-9CA5-0676218D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52850"/>
            <a:ext cx="4438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de navegación en el núcleo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462D2-FBC1-496A-ACFE-0F5848D4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4438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/balance registra 650 visitas y /modulos/inv 566. Los borradores de Balance suman otras 357.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3F0AA-B424-4D7E-A43A-8197D3BC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62500"/>
            <a:ext cx="4438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E1721"/>
                </a:solidFill>
              </a:defRPr>
            </a:pPr>
            <a:r>
              <a:t>Mapeo de cuentas aporta 144 visitas y Clientes, 25.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69E59-4D76-4BBA-AFD6-4225005C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A04AF-F906-4798-A15A-3ABDB435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4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04850" y="1952625"/>
          <a:ext xmlns:a="http://schemas.openxmlformats.org/drawingml/2006/main" cx="59626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7a4669c5d34a2b"/>
          </a:graphicData>
        </a:graphic>
      </p:graphicFrame>
    </p:spTree>
    <p:extLst>
      <p:ext uri="{BB962C8B-B14F-4D97-AF65-F5344CB8AC3E}">
        <p14:creationId xmlns:p14="http://schemas.microsoft.com/office/powerpoint/2010/main" val="17954265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4ACB72-370E-44F5-A8C2-81BBF2A8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La actividad se aceleró al cierre de agosto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DA91B5-E9AB-4CCA-912D-3483874A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5924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633 acciones se concentraron desde el 24 de agosto, 61,9% del período.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7CF6-6555-44D2-98C8-EAB0FA69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2080"/>
            <a:ext cx="7429500" cy="481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0133D-5103-4E1B-B15F-5DBE8F38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36766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B1F3A"/>
                </a:solidFill>
              </a:defRPr>
            </a:pPr>
            <a:r>
              <a:t>219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4FBE1-8E94-47B6-B414-B01E3C00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367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acciones el 31 de ago de 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86A9D-A5C2-4EB2-9CBA-B7F9C5A8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3676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Fue el mayor día del período; la actividad creció con fuerza en la última semana completa de agosto.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0A91A-F7AB-4DE4-89DA-DEA7981A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91050"/>
            <a:ext cx="3676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E1721"/>
                </a:solidFill>
              </a:defRPr>
            </a:pPr>
            <a:r>
              <a:t>Parte del pico incluye automatización de re-homologación; se muestra por separado en el análisis de usuarios.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35CB3-00F1-4810-B93B-81CBBDD7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8D7C0-DD2A-44AB-BB42-8CAD17B5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5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23900" y="20955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325dbecf8d4a4b"/>
          </a:graphicData>
        </a:graphic>
      </p:graphicFrame>
    </p:spTree>
    <p:extLst>
      <p:ext uri="{BB962C8B-B14F-4D97-AF65-F5344CB8AC3E}">
        <p14:creationId xmlns:p14="http://schemas.microsoft.com/office/powerpoint/2010/main" val="19598289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E59C04-B6D6-4FD8-8F26-6C5C5CF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Actividad por usuario · 1 de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09017-5C2E-4C87-ACA2-71E9AA16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628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68,5% de las acciones del período se concentra en cuatro usuarios humanos.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DF19C-C738-415A-B1E0-5E10EA95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865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1AC4C-798F-4A9B-801F-F4619CAF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907B2-0368-4CEB-A108-681BBEB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1137285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428750"/>
                <a:gridCol w="1428750"/>
                <a:gridCol w="5086350"/>
              </a:tblGrid>
              <a:tr h="5381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Usuario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Ingresos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Acciones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Actividad principal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213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ASIGNÓ CUENTA ESTÁNDAR</a:t>
                      </a:r>
                    </a:p>
                  </a:txBody>
                  <a:tcPr marL="95250" marR="95250" marT="66675" marB="66675" anchor="ctr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Luisa Martinez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12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187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ACTUALIZÓ ESTADO DE REPORTE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Victor Rivera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29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160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LEYÓ archivo de Inventarios</a:t>
                      </a:r>
                    </a:p>
                  </a:txBody>
                  <a:tcPr marL="95250" marR="95250" marT="66675" marB="66675" anchor="ctr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Camilo Perez Rojo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2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140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ASIGNÓ CUENTA ESTÁNDAR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A2E8E"/>
                          </a:solidFill>
                        </a:rPr>
                        <a:t>Sistema (script rehomologar-fuera-de-cl…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115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RE-HOMOLOGÓ BALANCE</a:t>
                      </a:r>
                    </a:p>
                  </a:txBody>
                  <a:tcPr marL="95250" marR="95250" marT="66675" marB="66675" anchor="ctr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Administrador Russell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6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72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ACTUALIZÓ ESTADO DE REPORTE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 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6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67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VALIDÓ alerta de balance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0557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F4D5DE-5EFF-41F5-9F4D-2E66A152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Actividad por usuario · 2 de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15018-E88A-4CB2-A403-61AF1FAE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477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Las identidades sin acciones sí tuvieron ingresos; Sistema representa automatizaciones, no uso humano.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7D780-B1B7-41C4-8756-5399EC36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85900"/>
            <a:ext cx="11391900" cy="4865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D3B9B-CDCC-4C90-ACE3-FB855045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58CFC-3A66-4A88-BF39-B361AE1D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11372850" cy="4305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1428750"/>
                <a:gridCol w="1428750"/>
                <a:gridCol w="5086350"/>
              </a:tblGrid>
              <a:tr h="5381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Usuario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Ingresos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Acciones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Actividad principal</a:t>
                      </a:r>
                    </a:p>
                  </a:txBody>
                  <a:tcPr marL="95250" marR="95250" marT="66675" marB="66675" anchor="ctr">
                    <a:solidFill>
                      <a:srgbClr val="0B1F3A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YULI ATEHORTUA GIRALDO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47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ASIGNÓ CUENTA ESTÁNDAR</a:t>
                      </a:r>
                    </a:p>
                  </a:txBody>
                  <a:tcPr marL="95250" marR="95250" marT="66675" marB="66675" anchor="ctr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 3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7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16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VALIDÓ alerta de balance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Russell 2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3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CARGÓ BALANCE</a:t>
                      </a:r>
                    </a:p>
                  </a:txBody>
                  <a:tcPr marL="95250" marR="95250" marT="66675" marB="66675" anchor="ctr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A2E8E"/>
                          </a:solidFill>
                        </a:rPr>
                        <a:t>Sistema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IMPORTÓ ERP POR PROCESO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ERICA MARIA VERGARA SALAZAR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Sin acción auditable</a:t>
                      </a:r>
                    </a:p>
                  </a:txBody>
                  <a:tcPr marL="95250" marR="95250" marT="66675" marB="66675" anchor="ctr"/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Luisa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Sin acción auditable</a:t>
                      </a:r>
                    </a:p>
                  </a:txBody>
                  <a:tcPr marL="95250" marR="95250" marT="66675" marB="66675" anchor="ctr">
                    <a:solidFill>
                      <a:srgbClr val="F2F4F7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Manuela Gutiérrez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1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0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E1721"/>
                          </a:solidFill>
                        </a:rPr>
                        <a:t>Sin acción auditable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7416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B538BE-6636-4B4F-9C08-B7E6627E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El trabajo se centra en homologar, validar y gestionar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070C6-1FB9-4603-B30F-57D61F54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8305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Las acciones más frecuentes reflejan preparación de balances, control de alertas y atención de tickets.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6B8A2-A26D-4168-89AC-6665BB6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7429500" cy="49034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640C1-1696-4B53-AA3C-DE39832B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00350"/>
            <a:ext cx="36766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B1F3A"/>
                </a:solidFill>
              </a:defRPr>
            </a:pPr>
            <a:r>
              <a:t>189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314BD-2CB1-4390-8FC6-05C40291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676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asignaciones de cuenta estándar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7D221-9080-44A9-9AE4-9EC005D3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3676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E1721"/>
                </a:solidFill>
              </a:defRPr>
            </a:pPr>
            <a:r>
              <a:t>La re-homologación aporta 119 acciones; 115 corresponden a un script del sistema.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AF21C-FE2C-450C-8AFD-6C532A5C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29150"/>
            <a:ext cx="3676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La gestión de soporte suma 95 cambios de estado de reporte.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5A528-A71B-45D3-B0C6-BB91A5BC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82306-C963-4D2F-92FE-8EDAEDB4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8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04850" y="1952625"/>
          <a:ext xmlns:a="http://schemas.openxmlformats.org/drawingml/2006/main" cx="66675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5a1d8d20a94a3b"/>
          </a:graphicData>
        </a:graphic>
      </p:graphicFrame>
    </p:spTree>
    <p:extLst>
      <p:ext uri="{BB962C8B-B14F-4D97-AF65-F5344CB8AC3E}">
        <p14:creationId xmlns:p14="http://schemas.microsoft.com/office/powerpoint/2010/main" val="9235491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86F577-59EA-4B19-8120-7E45B6E2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1721"/>
                </a:solidFill>
              </a:defRPr>
            </a:pPr>
            <a:r>
              <a:t>La actividad alcanza 79 clientes, con concentración moderada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CCAD1-EDAA-453D-9FE6-4F8DD632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71600"/>
            <a:ext cx="767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66273"/>
                </a:solidFill>
              </a:defRPr>
            </a:pPr>
            <a:r>
              <a:t>Los cinco clientes con mayor movimiento representan 35,9% de todas las acciones auditables.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3E83D-7FEA-4C76-8C5A-AB915D8D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2140"/>
            <a:ext cx="7620000" cy="43357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0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6DC6E-CFB1-4B60-9CFD-D283AFC0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34861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F6B3F"/>
                </a:solidFill>
              </a:defRPr>
            </a:pPr>
            <a:r>
              <a:t>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3CCC2-A335-4124-AF3B-5A68DE81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3486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E1721"/>
                </a:solidFill>
              </a:defRPr>
            </a:pPr>
            <a:r>
              <a:t>clientes con actividad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625BC-8BFA-4142-80AE-CA8B34D8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3486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E1721"/>
                </a:solidFill>
              </a:defRPr>
            </a:pPr>
            <a:r>
              <a:t>REDPLAS  S.A.S lidera con 131 acciones.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6178B-58E2-4E96-A037-BA564F70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72000"/>
            <a:ext cx="34861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La amplitud de clientes confirma uso productivo más allá de un solo caso de trabajo.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D2A5F-1912-4725-AAAA-922D832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EA6CE-19A2-44FB-A292-38AC609A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6515100"/>
            <a:ext cx="13716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9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04850" y="1876425"/>
          <a:ext xmlns:a="http://schemas.openxmlformats.org/drawingml/2006/main" cx="68580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7d22129d0f4c55"/>
          </a:graphicData>
        </a:graphic>
      </p:graphicFrame>
    </p:spTree>
    <p:extLst>
      <p:ext uri="{BB962C8B-B14F-4D97-AF65-F5344CB8AC3E}">
        <p14:creationId xmlns:p14="http://schemas.microsoft.com/office/powerpoint/2010/main" val="5407692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F5C959-0213-4C4C-A3A9-41A375E8F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11163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E1721"/>
                </a:solidFill>
              </a:defRPr>
            </a:pPr>
            <a:r>
              <a:t>La adopción es real, pero está concentrada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4DFAC-2E23-4CD5-B541-2DE80736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85850"/>
            <a:ext cx="11163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66273"/>
                </a:solidFill>
              </a:defRPr>
            </a:pPr>
            <a:r>
              <a:t>Tres conclusiones para gestión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ED936-C9C1-44B8-A438-F7E23F93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2F6FA7"/>
                </a:solidFill>
              </a:defRPr>
            </a:pPr>
            <a: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61034-D9EE-412A-95DA-39E8D6CA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3505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1721"/>
                </a:solidFill>
              </a:defRPr>
            </a:pPr>
            <a:r>
              <a:t>Núcleo operativo fuerte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B0253-C3A4-470F-8444-2956580A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3505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77,9% de las acciones está en Balance e Inventarios. Conviene proteger rendimiento y claridad en esos flujos.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EB7FF-F053-40F1-AE8F-F8A87543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7650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2F6FA7"/>
                </a:solidFill>
              </a:defRPr>
            </a:pPr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8D052-F7E8-47E7-B11A-703E1862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19400"/>
            <a:ext cx="3505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1721"/>
                </a:solidFill>
              </a:defRPr>
            </a:pPr>
            <a:r>
              <a:t>Uso desigual entre personas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2C67-9B28-4F5D-8CA5-786824B6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0450"/>
            <a:ext cx="3505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Cuatro usuarios humanos generan 68,5% de todas las acciones. Hay tres identidades con ingresos y sin acciones auditables.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069ED-2662-4C47-A3AC-0106A3C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spc="1">
                <a:solidFill>
                  <a:srgbClr val="2F6FA7"/>
                </a:solidFill>
              </a:defRPr>
            </a:pPr>
            <a: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06D64-4DAE-4CED-AC9F-C046384D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71800"/>
            <a:ext cx="3505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1721"/>
                </a:solidFill>
              </a:defRPr>
            </a:pPr>
            <a:r>
              <a:t>Separar persona y sistema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F1416-4AA1-4C03-A5A3-78441B80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3505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66273"/>
                </a:solidFill>
              </a:defRPr>
            </a:pPr>
            <a:r>
              <a:t>116 acciones son automatizadas y 906 son de identidades humanas. Reportarlas separadas evita sobreestimar adopción.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6E002-BB91-411A-BA98-FFA90CC6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9720"/>
            <a:ext cx="111633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EF7"/>
          </a:solidFill>
          <a:ln xmlns:a="http://schemas.openxmlformats.org/drawingml/2006/main" w="9525">
            <a:solidFill>
              <a:srgbClr val="C9D8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3EF22-01D8-451A-9C9D-0BC35BFF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706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B1F3A"/>
                </a:solidFill>
              </a:defRPr>
            </a:pPr>
            <a:r>
              <a:t>Siguiente lectura recomendada: seguir semanalmente tickets pendientes, usuarios con ingreso sin acción y participación de módulos distintos de Balance.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E6DCD-3204-4FED-8532-251EE189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3525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7C8DA3"/>
                </a:solidFill>
              </a:defRPr>
            </a:pPr>
            <a:r>
              <a:t>RUSSELL LFM · Usabilidad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7D2F6-5704-4865-9C0F-2789A96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63246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C8DA3"/>
                </a:solidFill>
              </a:defRPr>
            </a:pPr>
            <a:r>
              <a:t>Corte 1 sep 2026 · Bogotá · 10</a:t>
            </a:r>
          </a:p>
        </p:txBody>
      </p:sp>
    </p:spTree>
    <p:extLst>
      <p:ext uri="{BB962C8B-B14F-4D97-AF65-F5344CB8AC3E}">
        <p14:creationId xmlns:p14="http://schemas.microsoft.com/office/powerpoint/2010/main" val="365417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2026-09-01T18:05:43.0380000Z</dcterms:created>
  <dcterms:modified xsi:type="dcterms:W3CDTF">2026-09-01T18:05:43.0380000Z</dcterms:modified>
</coreProperties>
</file>