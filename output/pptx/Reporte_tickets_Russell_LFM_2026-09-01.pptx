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5e4ebb8bf64218" /><Relationship Type="http://schemas.openxmlformats.org/officeDocument/2006/relationships/extended-properties" Target="/docProps/app.xml" Id="Re9c9db9ebff6465c" /><Relationship Type="http://schemas.openxmlformats.org/officeDocument/2006/relationships/officeDocument" Target="/ppt/presentation.xml" Id="R34eac1f92efd40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1ecb8edf7d49e4"/>
  </p:sldMasterIdLst>
  <p:notesMasterIdLst>
    <p:notesMasterId xmlns:r="http://schemas.openxmlformats.org/officeDocument/2006/relationships" r:id="Rb7b34b7328944aa8"/>
  </p:notesMasterIdLst>
  <p:sldIdLst>
    <p:sldId xmlns:r="http://schemas.openxmlformats.org/officeDocument/2006/relationships" id="256" r:id="Rfbde13b2b58a4a2d"/>
    <p:sldId xmlns:r="http://schemas.openxmlformats.org/officeDocument/2006/relationships" id="257" r:id="R708e25d7a38845ea"/>
    <p:sldId xmlns:r="http://schemas.openxmlformats.org/officeDocument/2006/relationships" id="258" r:id="R50e5b693f15a4206"/>
    <p:sldId xmlns:r="http://schemas.openxmlformats.org/officeDocument/2006/relationships" id="259" r:id="R0559c2f6c75e486e"/>
    <p:sldId xmlns:r="http://schemas.openxmlformats.org/officeDocument/2006/relationships" id="260" r:id="Rcb9f6d24a32c4196"/>
    <p:sldId xmlns:r="http://schemas.openxmlformats.org/officeDocument/2006/relationships" id="261" r:id="R85140713eaf44724"/>
    <p:sldId xmlns:r="http://schemas.openxmlformats.org/officeDocument/2006/relationships" id="262" r:id="Rae48ec53c2964eb4"/>
    <p:sldId xmlns:r="http://schemas.openxmlformats.org/officeDocument/2006/relationships" id="263" r:id="Rc904e7b0de1042b7"/>
    <p:sldId xmlns:r="http://schemas.openxmlformats.org/officeDocument/2006/relationships" id="264" r:id="Rfaa07a81a92244f0"/>
    <p:sldId xmlns:r="http://schemas.openxmlformats.org/officeDocument/2006/relationships" id="265" r:id="Rb93fefe28bd24e8c"/>
    <p:sldId xmlns:r="http://schemas.openxmlformats.org/officeDocument/2006/relationships" id="266" r:id="Rcdb2d934df3a44f7"/>
    <p:sldId xmlns:r="http://schemas.openxmlformats.org/officeDocument/2006/relationships" id="267" r:id="Ref509038573f46b6"/>
    <p:sldId xmlns:r="http://schemas.openxmlformats.org/officeDocument/2006/relationships" id="268" r:id="R4c85f30806234c08"/>
    <p:sldId xmlns:r="http://schemas.openxmlformats.org/officeDocument/2006/relationships" id="269" r:id="R6622f3592e07469c"/>
    <p:sldId xmlns:r="http://schemas.openxmlformats.org/officeDocument/2006/relationships" id="270" r:id="Rca02000fd27f4b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cc2921b8b141de" /><Relationship Type="http://schemas.openxmlformats.org/officeDocument/2006/relationships/slideMaster" Target="/ppt/slideMasters/slideMaster1.xml" Id="Rab1ecb8edf7d49e4" /><Relationship Type="http://schemas.openxmlformats.org/officeDocument/2006/relationships/notesMaster" Target="/ppt/notesMasters/notesMaster1.xml" Id="Rb7b34b7328944aa8" /><Relationship Type="http://schemas.openxmlformats.org/officeDocument/2006/relationships/presProps" Target="/ppt/presProps.xml" Id="Ref751573108b4c97" /><Relationship Type="http://schemas.openxmlformats.org/officeDocument/2006/relationships/tableStyles" Target="/ppt/tableStyles.xml" Id="R53914b350d884b07" /><Relationship Type="http://schemas.openxmlformats.org/officeDocument/2006/relationships/slide" Target="/ppt/slides/slide1.xml" Id="Rfbde13b2b58a4a2d" /><Relationship Type="http://schemas.openxmlformats.org/officeDocument/2006/relationships/slide" Target="/ppt/slides/slide2.xml" Id="R708e25d7a38845ea" /><Relationship Type="http://schemas.openxmlformats.org/officeDocument/2006/relationships/slide" Target="/ppt/slides/slide3.xml" Id="R50e5b693f15a4206" /><Relationship Type="http://schemas.openxmlformats.org/officeDocument/2006/relationships/slide" Target="/ppt/slides/slide4.xml" Id="R0559c2f6c75e486e" /><Relationship Type="http://schemas.openxmlformats.org/officeDocument/2006/relationships/slide" Target="/ppt/slides/slide5.xml" Id="Rcb9f6d24a32c4196" /><Relationship Type="http://schemas.openxmlformats.org/officeDocument/2006/relationships/slide" Target="/ppt/slides/slide6.xml" Id="R85140713eaf44724" /><Relationship Type="http://schemas.openxmlformats.org/officeDocument/2006/relationships/slide" Target="/ppt/slides/slide7.xml" Id="Rae48ec53c2964eb4" /><Relationship Type="http://schemas.openxmlformats.org/officeDocument/2006/relationships/slide" Target="/ppt/slides/slide8.xml" Id="Rc904e7b0de1042b7" /><Relationship Type="http://schemas.openxmlformats.org/officeDocument/2006/relationships/slide" Target="/ppt/slides/slide9.xml" Id="Rfaa07a81a92244f0" /><Relationship Type="http://schemas.openxmlformats.org/officeDocument/2006/relationships/slide" Target="/ppt/slides/slide10.xml" Id="Rb93fefe28bd24e8c" /><Relationship Type="http://schemas.openxmlformats.org/officeDocument/2006/relationships/slide" Target="/ppt/slides/slide11.xml" Id="Rcdb2d934df3a44f7" /><Relationship Type="http://schemas.openxmlformats.org/officeDocument/2006/relationships/slide" Target="/ppt/slides/slide12.xml" Id="Ref509038573f46b6" /><Relationship Type="http://schemas.openxmlformats.org/officeDocument/2006/relationships/slide" Target="/ppt/slides/slide13.xml" Id="R4c85f30806234c08" /><Relationship Type="http://schemas.openxmlformats.org/officeDocument/2006/relationships/slide" Target="/ppt/slides/slide14.xml" Id="R6622f3592e07469c" /><Relationship Type="http://schemas.openxmlformats.org/officeDocument/2006/relationships/slide" Target="/ppt/slides/slide15.xml" Id="Rca02000fd27f4b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45b03cf3b64d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a38608dbb44e97" /><Relationship Type="http://schemas.openxmlformats.org/officeDocument/2006/relationships/notesMaster" Target="/ppt/notesMasters/notesMaster1.xml" Id="R06500715af7f41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0e9380928845b1" /><Relationship Type="http://schemas.openxmlformats.org/officeDocument/2006/relationships/notesMaster" Target="/ppt/notesMasters/notesMaster1.xml" Id="R9e37295c4bdb4e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a1331bc81c4d76" /><Relationship Type="http://schemas.openxmlformats.org/officeDocument/2006/relationships/notesMaster" Target="/ppt/notesMasters/notesMaster1.xml" Id="Rf18e90c116124b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8bc1422de34460" /><Relationship Type="http://schemas.openxmlformats.org/officeDocument/2006/relationships/notesMaster" Target="/ppt/notesMasters/notesMaster1.xml" Id="Rfcb157931c9d47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1d807805d4462c" /><Relationship Type="http://schemas.openxmlformats.org/officeDocument/2006/relationships/notesMaster" Target="/ppt/notesMasters/notesMaster1.xml" Id="R70241549e15c4e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bcb2d5d4e54099" /><Relationship Type="http://schemas.openxmlformats.org/officeDocument/2006/relationships/notesMaster" Target="/ppt/notesMasters/notesMaster1.xml" Id="Rd4c30d31525d48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16f1d232f54890" /><Relationship Type="http://schemas.openxmlformats.org/officeDocument/2006/relationships/notesMaster" Target="/ppt/notesMasters/notesMaster1.xml" Id="R0b5b92267d1b4e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3511c75268417f" /><Relationship Type="http://schemas.openxmlformats.org/officeDocument/2006/relationships/notesMaster" Target="/ppt/notesMasters/notesMaster1.xml" Id="R106515d5328842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0895c7fe154f25" /><Relationship Type="http://schemas.openxmlformats.org/officeDocument/2006/relationships/notesMaster" Target="/ppt/notesMasters/notesMaster1.xml" Id="Rdff630120f4648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e75d3839a74be7" /><Relationship Type="http://schemas.openxmlformats.org/officeDocument/2006/relationships/notesMaster" Target="/ppt/notesMasters/notesMaster1.xml" Id="Rbafff4eb1eea4a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720cdcb4984de4" /><Relationship Type="http://schemas.openxmlformats.org/officeDocument/2006/relationships/notesMaster" Target="/ppt/notesMasters/notesMaster1.xml" Id="R450c1d38a56f40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2ab3bc92e948ca" /><Relationship Type="http://schemas.openxmlformats.org/officeDocument/2006/relationships/notesMaster" Target="/ppt/notesMasters/notesMaster1.xml" Id="R5d568446478e4b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0631023d024cb3" /><Relationship Type="http://schemas.openxmlformats.org/officeDocument/2006/relationships/notesMaster" Target="/ppt/notesMasters/notesMaster1.xml" Id="R55ca8725bf144c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8a696a6f92480c" /><Relationship Type="http://schemas.openxmlformats.org/officeDocument/2006/relationships/notesMaster" Target="/ppt/notesMasters/notesMaster1.xml" Id="R78101b99c25445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4b6a252cb3492b" /><Relationship Type="http://schemas.openxmlformats.org/officeDocument/2006/relationships/notesMaster" Target="/ppt/notesMasters/notesMaster1.xml" Id="Rda2fd56c35c04e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tickets_soporte, consulta de solo lectura congelada el 01 de sept de 2026, 12:59, America/Bogota.</a:t>
            </a:r>
          </a:p>
          <a:p xmlns:a="http://schemas.openxmlformats.org/drawingml/2006/main">
            <a:r>
              <a:t>- Alcance: tickets internos con creado_por_id no nulo; se excluyen reportes públicos token-privados.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tickets_soporte, consulta de solo lectura congelada el 01 de sept de 2026, 12:59, America/Bogota.</a:t>
            </a:r>
          </a:p>
          <a:p xmlns:a="http://schemas.openxmlformats.org/drawingml/2006/main">
            <a:r>
              <a:t>- Definiciones: pendientes = abierto + en_evaluacion + en_proceso; finalizados = resuelto + cerrado.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tickets_soporte, consulta de solo lectura congelada el 01 de sept de 2026, 12:59, America/Bogota.</a:t>
            </a:r>
          </a:p>
          <a:p xmlns:a="http://schemas.openxmlformats.org/drawingml/2006/main">
            <a:r>
              <a:t>- Estados definidos en src/lib/soporte-estados.ts.</a:t>
            </a:r>
          </a:p>
          <a:p xmlns:a="http://schemas.openxmlformats.org/drawingml/2006/main">
            <a:r>
              <a:t>- 25 cerrados no tienen resuelto_en y 22 no tienen solución; el KPI usa el estado 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tickets_soporte, consulta de solo lectura congelada el 01 de sept de 2026, 12:59, America/Bogota.</a:t>
            </a:r>
          </a:p>
          <a:p xmlns:a="http://schemas.openxmlformats.org/drawingml/2006/main">
            <a:r>
              <a:t>- Resueltos de la cohorte = tickets creados esta semana cuyo estado actual es resuelto o cerrado.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tickets_soporte, consulta de solo lectura congelada el 01 de sept de 2026, 12:59, America/Bogota.</a:t>
            </a:r>
          </a:p>
          <a:p xmlns:a="http://schemas.openxmlformats.org/drawingml/2006/main">
            <a:r>
              <a:t>- El nombre del reportante se conserva como snapshot aunque la cuenta creadora ya no exista.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tickets_soporte, consulta de solo lectura congelada el 01 de sept de 2026, 12:59, America/Bogota.</a:t>
            </a:r>
          </a:p>
          <a:p xmlns:a="http://schemas.openxmlformats.org/drawingml/2006/main">
            <a:r>
              <a:t>- Pendientes: estados abierto, en_evaluacion y en_proceso.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tickets_soporte, consulta de solo lectura congelada el 01 de sept de 2026, 12:59, America/Bogota.</a:t>
            </a:r>
          </a:p>
          <a:p xmlns:a="http://schemas.openxmlformats.org/drawingml/2006/main">
            <a:r>
              <a:t>- Pendientes: estados abierto, en_evaluacion y en_proceso.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tickets_soporte, consulta de solo lectura congelada el 01 de sept de 2026, 12:59, America/Bogota.</a:t>
            </a:r>
          </a:p>
          <a:p xmlns:a="http://schemas.openxmlformats.org/drawingml/2006/main">
            <a:r>
              <a:t>- Pendientes: estados abierto, en_evaluacion y en_proceso.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tickets_soporte, consulta de solo lectura congelada el 01 de sept de 2026, 12:59, America/Bogota.</a:t>
            </a:r>
          </a:p>
          <a:p xmlns:a="http://schemas.openxmlformats.org/drawingml/2006/main">
            <a:r>
              <a:t>- Finalizados: estados resuelto y cerrado; el estado exacto permanece visible por ticket.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tickets_soporte, consulta de solo lectura congelada el 01 de sept de 2026, 12:59, America/Bogota.</a:t>
            </a:r>
          </a:p>
          <a:p xmlns:a="http://schemas.openxmlformats.org/drawingml/2006/main">
            <a:r>
              <a:t>- Finalizados: estados resuelto y cerrado; el estado exacto permanece visible por ticket.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tickets_soporte, consulta de solo lectura congelada el 01 de sept de 2026, 12:59, America/Bogota.</a:t>
            </a:r>
          </a:p>
          <a:p xmlns:a="http://schemas.openxmlformats.org/drawingml/2006/main">
            <a:r>
              <a:t>- Finalizados: estados resuelto y cerrado; el estado exacto permanece visible por ticket.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tickets_soporte, consulta de solo lectura congelada el 01 de sept de 2026, 12:59, America/Bogota.</a:t>
            </a:r>
          </a:p>
          <a:p xmlns:a="http://schemas.openxmlformats.org/drawingml/2006/main">
            <a:r>
              <a:t>- Finalizados: estados resuelto y cerrado; el estado exacto permanece visible por ticket.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tickets_soporte, consulta de solo lectura congelada el 01 de sept de 2026, 12:59, America/Bogota.</a:t>
            </a:r>
          </a:p>
          <a:p xmlns:a="http://schemas.openxmlformats.org/drawingml/2006/main">
            <a:r>
              <a:t>- Finalizados: estados resuelto y cerrado; el estado exacto permanece visible por ticket.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tickets_soporte, consulta de solo lectura congelada el 01 de sept de 2026, 12:59, America/Bogota.</a:t>
            </a:r>
          </a:p>
          <a:p xmlns:a="http://schemas.openxmlformats.org/drawingml/2006/main">
            <a:r>
              <a:t>- Finalizados: estados resuelto y cerrado; el estado exacto permanece visible por ticket.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tickets_soporte, consulta de solo lectura congelada el 01 de sept de 2026, 12:59, America/Bogota.</a:t>
            </a:r>
          </a:p>
          <a:p xmlns:a="http://schemas.openxmlformats.org/drawingml/2006/main">
            <a:r>
              <a:t>- Finalizados: estados resuelto y cerrado; el estado exacto permanece visible por ticket.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a45d9742994a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8c6ed0be0d4fe5" /><Relationship Type="http://schemas.openxmlformats.org/officeDocument/2006/relationships/slideLayout" Target="/ppt/slideLayouts/slideLayout1.xml" Id="R1acbb60c39ad43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cbb60c39ad43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0fd5b015941b1" /><Relationship Type="http://schemas.openxmlformats.org/officeDocument/2006/relationships/notesSlide" Target="/ppt/notesSlides/notesSlide1.xml" Id="R1f4c5abf0fb84d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3aa3737a44c0a" /><Relationship Type="http://schemas.openxmlformats.org/officeDocument/2006/relationships/notesSlide" Target="/ppt/notesSlides/notesSlide2.xml" Id="R6c4ca36a0b6b4b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0e031e5ae40e6" /><Relationship Type="http://schemas.openxmlformats.org/officeDocument/2006/relationships/chart" Target="/ppt/slides/charts/chart1.xml" Id="Raf51376a60654232" /><Relationship Type="http://schemas.openxmlformats.org/officeDocument/2006/relationships/notesSlide" Target="/ppt/notesSlides/notesSlide3.xml" Id="Rf7d899c8bb004c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940add6884da0" /><Relationship Type="http://schemas.openxmlformats.org/officeDocument/2006/relationships/notesSlide" Target="/ppt/notesSlides/notesSlide4.xml" Id="Re69b28fa154a41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34bcf6aeb4613" /><Relationship Type="http://schemas.openxmlformats.org/officeDocument/2006/relationships/notesSlide" Target="/ppt/notesSlides/notesSlide5.xml" Id="Rfc13acd2ae1c4c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c96a412194291" /><Relationship Type="http://schemas.openxmlformats.org/officeDocument/2006/relationships/notesSlide" Target="/ppt/notesSlides/notesSlide6.xml" Id="R1ac22284fbab4d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d71d6ba334937" /><Relationship Type="http://schemas.openxmlformats.org/officeDocument/2006/relationships/notesSlide" Target="/ppt/notesSlides/notesSlide7.xml" Id="Rb887c77b90b440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ee7104f794b1c" /><Relationship Type="http://schemas.openxmlformats.org/officeDocument/2006/relationships/notesSlide" Target="/ppt/notesSlides/notesSlide8.xml" Id="Rcdaac9192a9146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50bd4e95d49f5" /><Relationship Type="http://schemas.openxmlformats.org/officeDocument/2006/relationships/notesSlide" Target="/ppt/notesSlides/notesSlide9.xml" Id="Rc7ea2a5825a243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f0ef14c5c427b" /><Relationship Type="http://schemas.openxmlformats.org/officeDocument/2006/relationships/notesSlide" Target="/ppt/notesSlides/notesSlide10.xml" Id="R40b97769e9be42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8b666044d4f99" /><Relationship Type="http://schemas.openxmlformats.org/officeDocument/2006/relationships/notesSlide" Target="/ppt/notesSlides/notesSlide11.xml" Id="Rcc5edbebcac842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d43c8888f4a2b" /><Relationship Type="http://schemas.openxmlformats.org/officeDocument/2006/relationships/notesSlide" Target="/ppt/notesSlides/notesSlide12.xml" Id="R33a7b33a014141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a218a3800485e" /><Relationship Type="http://schemas.openxmlformats.org/officeDocument/2006/relationships/notesSlide" Target="/ppt/notesSlides/notesSlide13.xml" Id="Ra02961229d4c42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b0e401fa44b5c" /><Relationship Type="http://schemas.openxmlformats.org/officeDocument/2006/relationships/notesSlide" Target="/ppt/notesSlides/notesSlide14.xml" Id="R88be0f38b51a49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164aa54e94a24" /><Relationship Type="http://schemas.openxmlformats.org/officeDocument/2006/relationships/notesSlide" Target="/ppt/notesSlides/notesSlide15.xml" Id="R5cbd2e03ee5941f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1"/>
        <c:ser>
          <c:idx val="0"/>
          <c:order val="0"/>
          <c:tx>
            <c:v>Tickets</c:v>
          </c:tx>
          <c:spPr>
            <a:solidFill xmlns:a="http://schemas.openxmlformats.org/drawingml/2006/main">
              <a:srgbClr val="2F6FA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A5A1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A2E8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F6FA7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F6B3F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0E1721"/>
              </a:solidFill>
            </c:spPr>
          </c:dPt>
          <c:cat>
            <c:strLit>
              <c:ptCount val="5"/>
              <c:pt idx="0">
                <c:v>Abierto</c:v>
              </c:pt>
              <c:pt idx="1">
                <c:v>En evaluación</c:v>
              </c:pt>
              <c:pt idx="2">
                <c:v>En proceso</c:v>
              </c:pt>
              <c:pt idx="3">
                <c:v>Resuelto</c:v>
              </c:pt>
              <c:pt idx="4">
                <c:v>Cerrado</c:v>
              </c:pt>
            </c:strLit>
          </c:cat>
          <c:val>
            <c:numLit>
              <c:formatCode>General</c:formatCode>
              <c:ptCount val="5"/>
              <c:pt idx="0">
                <c:v>8</c:v>
              </c:pt>
              <c:pt idx="1">
                <c:v>6</c:v>
              </c:pt>
              <c:pt idx="2">
                <c:v>1</c:v>
              </c:pt>
              <c:pt idx="3">
                <c:v>5</c:v>
              </c:pt>
              <c:pt idx="4">
                <c:v>48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E172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0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6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E1721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EA6D9-7EE3-4EF6-A86D-BBDA39CB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0">
            <a:solidFill>
              <a:srgbClr val="FBFB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EC1AF-6CA3-450B-B945-695286EF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7"/>
          </a:solidFill>
          <a:ln xmlns:a="http://schemas.openxmlformats.org/drawingml/2006/main" w="0">
            <a:solidFill>
              <a:srgbClr val="2F6F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33A07-267B-4E97-9032-E74EEFCE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200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0B1F3A"/>
                </a:solidFill>
              </a:defRPr>
            </a:pPr>
            <a:r>
              <a:t>RUSSELL LFM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9957F-D8A2-4B8A-ADB0-EDABCEE0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76250"/>
            <a:ext cx="133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spc="1">
                <a:solidFill>
                  <a:srgbClr val="2F6FA7"/>
                </a:solidFill>
              </a:defRPr>
            </a:pPr>
            <a:r>
              <a:t>REPORTE EJECUTIVO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81177-8703-4260-AE2C-0A8DFB0D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2F6FA7"/>
                </a:solidFill>
              </a:defRPr>
            </a:pPr>
            <a:r>
              <a:t>GESTIÓN DE SOPORTE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6690B8B-EDD6-4A30-8F9D-9456C1F8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67818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E1721"/>
                </a:solidFill>
              </a:defRPr>
            </a:pPr>
            <a:r>
              <a:t>Estado de tickets internos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54C6A-E792-4C39-A9E7-ABD1FCE5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BD0"/>
          </a:solidFill>
          <a:ln xmlns:a="http://schemas.openxmlformats.org/drawingml/2006/main" w="0">
            <a:solidFill>
              <a:srgbClr val="5C9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8D2C4-8937-4EF2-86E5-BF5A65A3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6781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273"/>
                </a:solidFill>
              </a:defRPr>
            </a:pPr>
            <a:r>
              <a:t>Inventario completo, carga pendiente y resolución de la cohorte semanal.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7E25A-DE42-489A-8DC8-032E7CA2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72200"/>
            <a:ext cx="169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DA3"/>
                </a:solidFill>
              </a:defRPr>
            </a:pPr>
            <a:r>
              <a:t>Fuente: PostgreSQL Russell LFM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D113F-76AD-4F4F-90A0-E6115064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172200"/>
            <a:ext cx="2209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DA3"/>
                </a:solidFill>
              </a:defRPr>
            </a:pPr>
            <a:r>
              <a:t>1 de septiembre de 2026 · America/Bogota</a:t>
            </a:r>
          </a:p>
        </p:txBody>
      </p:sp>
    </p:spTree>
    <p:extLst>
      <p:ext uri="{BB962C8B-B14F-4D97-AF65-F5344CB8AC3E}">
        <p14:creationId xmlns:p14="http://schemas.microsoft.com/office/powerpoint/2010/main" val="20038335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680CD1-E199-4CB7-9746-4E5CA373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El 78% del inventario ya está finalizado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CA851-D8C1-4402-B52F-72840FF7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Los estados exactos se conservan en el detalle; “pendiente” agrupa Abierto, En evaluación y En proceso.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BA7BA-81D5-40A7-B8FE-B0635CEE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2019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B1F3A"/>
                </a:solidFill>
              </a:defRPr>
            </a:pPr>
            <a:r>
              <a:t>68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6C314-69B4-44E3-B91E-6154C623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201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721"/>
                </a:solidFill>
              </a:defRPr>
            </a:pPr>
            <a:r>
              <a:t>tickets internos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C8E49-8C88-4F18-B830-AC70EF6C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273"/>
                </a:solidFill>
              </a:defRPr>
            </a:pPr>
            <a:r>
              <a:t>Inventario total al corte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9096C-889F-499C-A6D0-47CEC1E6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28750"/>
            <a:ext cx="20193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0E7"/>
          </a:solidFill>
          <a:ln xmlns:a="http://schemas.openxmlformats.org/drawingml/2006/main" w="0">
            <a:solidFill>
              <a:srgbClr val="DC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699D6-5029-4287-BB12-BEFB764E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05100"/>
            <a:ext cx="2019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8A5A11"/>
                </a:solidFill>
              </a:defRPr>
            </a:pPr>
            <a: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CCCFD-5F86-4E09-8107-AA2F9EA8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86150"/>
            <a:ext cx="201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721"/>
                </a:solidFill>
              </a:defRPr>
            </a:pPr>
            <a:r>
              <a:t>pendientes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9C903-1690-4F96-B05D-F7C038BF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29050"/>
            <a:ext cx="2019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273"/>
                </a:solidFill>
              </a:defRPr>
            </a:pPr>
            <a:r>
              <a:t>8 abiertos · 6 en evaluación · 1 en proceso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818A3-7C9A-4BB5-B17A-B8F15D0C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28750"/>
            <a:ext cx="20193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0E7"/>
          </a:solidFill>
          <a:ln xmlns:a="http://schemas.openxmlformats.org/drawingml/2006/main" w="0">
            <a:solidFill>
              <a:srgbClr val="DC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D6BCA-00DE-4FE6-AFA4-FED09CA3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2019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F6B3F"/>
                </a:solidFill>
              </a:defRPr>
            </a:pPr>
            <a:r>
              <a:t>53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911C6-FFEF-4867-9199-F2E8B1C6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81400"/>
            <a:ext cx="201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721"/>
                </a:solidFill>
              </a:defRPr>
            </a:pPr>
            <a:r>
              <a:t>finalizados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CF559-5E95-4D40-A53A-A23B7036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0525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273"/>
                </a:solidFill>
              </a:defRPr>
            </a:pPr>
            <a:r>
              <a:t>5 resueltos · 48 cerrados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33858-981E-424E-838F-B8AA1D91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26430"/>
            <a:ext cx="112395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solidFill>
              <a:srgbClr val="C9D8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D27F5-0192-4985-9DF9-7D2A9A1C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1F3A"/>
                </a:solidFill>
              </a:defRPr>
            </a:pPr>
            <a:r>
              <a:t>Lectura ejecutiva: la prioridad operativa está en 15 tickets aún no terminales; 14 de ellos siguen entre apertura y evaluación.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E73E1-06E4-4D9C-99F4-4CDB1BE4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15100"/>
            <a:ext cx="11811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Tickets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0B0C1-B043-40E0-B219-9D1B36D8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2</a:t>
            </a:r>
          </a:p>
        </p:txBody>
      </p:sp>
    </p:spTree>
    <p:extLst>
      <p:ext uri="{BB962C8B-B14F-4D97-AF65-F5344CB8AC3E}">
        <p14:creationId xmlns:p14="http://schemas.microsoft.com/office/powerpoint/2010/main" val="20461929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06903E-D839-47C1-92BD-5A8CF976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La carga pendiente se concentra en apertura y evaluación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540CE-995B-4648-98B7-57A37492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4552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Distribución de los 68 tickets internos por estado actual.</a:t>
            </a:r>
          </a:p>
        </p:txBody>
      </p:sp>
      <p:sp>
        <p:nvSpPr>
          <p:cNvPr id="3" name="status-chart-frame">
            <a:extLst xmlns:a="http://schemas.openxmlformats.org/drawingml/2006/main">
              <a:ext uri="{FF2B5EF4-FFF2-40B4-BE49-F238E27FC236}">
                <a16:creationId xmlns:a16="http://schemas.microsoft.com/office/drawing/2014/main" id="{42195BB3-6D10-4AE6-929C-4D56FFE6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9680"/>
            <a:ext cx="6572250" cy="5120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08AE8-A185-4B64-BACD-8FA8D951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71750"/>
            <a:ext cx="45148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E1721"/>
                </a:solidFill>
              </a:defRPr>
            </a:pPr>
            <a: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93D64-EA7F-495E-AEF4-F09BB56D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05200"/>
            <a:ext cx="4514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1721"/>
                </a:solidFill>
              </a:defRPr>
            </a:pPr>
            <a:r>
              <a:t>tickets están cerrados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1680D-E870-46C1-804C-9364C54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00500"/>
            <a:ext cx="4514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Los 15 pendientes se reparten entre 8 abiertos, 6 en evaluación y 1 en proceso.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405CF-F04F-4F2B-A44C-D1F7A172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291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BD0"/>
          </a:solidFill>
          <a:ln xmlns:a="http://schemas.openxmlformats.org/drawingml/2006/main" w="0">
            <a:solidFill>
              <a:srgbClr val="5C9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379A8-7DB2-4DF5-A8C3-0D6087AC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95850"/>
            <a:ext cx="4514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2F6FA7"/>
                </a:solidFill>
              </a:defRPr>
            </a:pPr>
            <a:r>
              <a:t>El detalle completo comienza en la página 5.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B08B3-AA5D-40DE-89A6-03EC4BF8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811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Tickets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508CB-F449-498E-8870-A491B077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3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47700" y="1828800"/>
          <a:ext xmlns:a="http://schemas.openxmlformats.org/drawingml/2006/main" cx="59626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51376a60654232"/>
          </a:graphicData>
        </a:graphic>
      </p:graphicFrame>
    </p:spTree>
    <p:extLst>
      <p:ext uri="{BB962C8B-B14F-4D97-AF65-F5344CB8AC3E}">
        <p14:creationId xmlns:p14="http://schemas.microsoft.com/office/powerpoint/2010/main" val="21269792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F925C1-8E2D-4460-8C85-D3B5B72E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Esta semana entraron 2 tickets y ninguno se ha resuelto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BB11B-DC16-4F93-B98B-46DBD7DB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8496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Cohorte desde el lunes 31 de agosto de 2026 hasta el corte del martes 1 de septiembre, hora de Bogotá.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60BC8-1E8D-42DC-8A63-418D8F87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32385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2F6FA7"/>
                </a:solidFill>
              </a:defRPr>
            </a:pPr>
            <a: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CA33D-71CB-419E-8905-CFCA04C2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323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1721"/>
                </a:solidFill>
              </a:defRPr>
            </a:pPr>
            <a:r>
              <a:t>tickets abiertos esta semana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81454-7635-4FA6-95F4-52534B49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273"/>
                </a:solidFill>
              </a:defRPr>
            </a:pPr>
            <a:r>
              <a:t>0 resueltos · 0% de resolución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073C1-D951-430D-AAE8-7822DF08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81150"/>
            <a:ext cx="7715250" cy="400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C6360-9FAA-4B03-936E-9B1CA73E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19400"/>
            <a:ext cx="7143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8A5A11"/>
                </a:solidFill>
              </a:defRPr>
            </a:pPr>
            <a:r>
              <a:t>TKT-67 · Abierto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BD9B6-C671-4023-B7CE-05C4BD9A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714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721"/>
                </a:solidFill>
              </a:defRPr>
            </a:pPr>
            <a:r>
              <a:t>AJUSTE DE VERSIONES EN EL PREVALIDADOR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916ED-83C3-46D3-B610-7CA56F32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7143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273"/>
                </a:solidFill>
              </a:defRPr>
            </a:pPr>
            <a:r>
              <a:t>Camilo Perez Rojo · Balance · 01/09/2026, 12:55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16827-C5BF-4CE0-A34F-04FE3235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57600"/>
            <a:ext cx="7143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8A5A11"/>
                </a:solidFill>
              </a:defRPr>
            </a:pPr>
            <a:r>
              <a:t>TKT-66 · Abierto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F7034-5CB9-4BE0-B751-3439482F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67150"/>
            <a:ext cx="714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721"/>
                </a:solidFill>
              </a:defRPr>
            </a:pPr>
            <a:r>
              <a:t>Claridad en cargue de documento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266C9-F706-4B88-B6DC-5F2B00F8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52900"/>
            <a:ext cx="7143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273"/>
                </a:solidFill>
              </a:defRPr>
            </a:pPr>
            <a:r>
              <a:t>Russell 2 · Balance · 31/08/2026, 16:21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8F4B5-29E1-49A5-8452-8B67D2FB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4060"/>
            <a:ext cx="11277600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D7"/>
          </a:solidFill>
          <a:ln xmlns:a="http://schemas.openxmlformats.org/drawingml/2006/main" w="9525">
            <a:solidFill>
              <a:srgbClr val="E8D5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14B4D-22D6-48A1-A402-C31DD72E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A5A11"/>
                </a:solidFill>
              </a:defRPr>
            </a:pPr>
            <a:r>
              <a:t>Autores de la cohorte: Camilo Perez Rojo · Russell 2. No hay tickets terminales en esta cohorte.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2BB27-2058-4033-BF33-74097F58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811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Tickets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27FC5-1B98-48EC-9758-A629A623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4</a:t>
            </a:r>
          </a:p>
        </p:txBody>
      </p:sp>
    </p:spTree>
    <p:extLst>
      <p:ext uri="{BB962C8B-B14F-4D97-AF65-F5344CB8AC3E}">
        <p14:creationId xmlns:p14="http://schemas.microsoft.com/office/powerpoint/2010/main" val="1297292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66A96A-682B-4BB8-BCBD-2660E819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Quién abrió los tickets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F1EED-D217-4160-928C-5763AD17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5924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Distribución del inventario completo por nombre snapshot del reportante.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310D6-FEEE-405D-83BE-78EF9D88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4865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84E5F-812F-4111-940D-A74F54BC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811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Tickets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23F7A-DB87-4042-8782-89EE9CC8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619250" y="1571625"/>
          <a:ext xmlns:a="http://schemas.openxmlformats.org/drawingml/2006/main" cx="89535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1428750"/>
                <a:gridCol w="1524000"/>
                <a:gridCol w="1524000"/>
              </a:tblGrid>
              <a:tr h="4333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Reportante</a:t>
                      </a:r>
                    </a:p>
                  </a:txBody>
                  <a:tcPr marL="114300" marR="11430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114300" marR="11430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Pendientes</a:t>
                      </a:r>
                    </a:p>
                  </a:txBody>
                  <a:tcPr marL="114300" marR="11430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Finalizados</a:t>
                      </a:r>
                    </a:p>
                  </a:txBody>
                  <a:tcPr marL="114300" marR="114300" marT="66675" marB="66675" anchor="ctr">
                    <a:solidFill>
                      <a:srgbClr val="0B1F3A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49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3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46</a:t>
                      </a:r>
                    </a:p>
                  </a:txBody>
                  <a:tcPr marL="114300" marR="114300" marT="66675" marB="66675" anchor="ctr"/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Luisa Martinez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6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2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4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Russell 1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3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2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</a:t>
                      </a:r>
                    </a:p>
                  </a:txBody>
                  <a:tcPr marL="114300" marR="114300" marT="66675" marB="66675" anchor="ctr"/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YULI ATEHORTUA GIRALDO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3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3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0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Camilo Perez Rojo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2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2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0</a:t>
                      </a:r>
                    </a:p>
                  </a:txBody>
                  <a:tcPr marL="114300" marR="114300" marT="66675" marB="66675" anchor="ctr"/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russell plataforma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2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Russell 2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0</a:t>
                      </a:r>
                    </a:p>
                  </a:txBody>
                  <a:tcPr marL="114300" marR="114300" marT="66675" marB="66675" anchor="ctr"/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Russell 3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0</a:t>
                      </a:r>
                    </a:p>
                  </a:txBody>
                  <a:tcPr marL="114300" marR="114300" marT="66675" marB="66675" anchor="ctr">
                    <a:solidFill>
                      <a:srgbClr val="F2F4F7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Victor Rivera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0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</a:t>
                      </a:r>
                    </a:p>
                  </a:txBody>
                  <a:tcPr marL="114300" marR="114300" marT="66675" marB="6667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441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BFFCCB-89E0-4813-B4DB-6E979ADB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Tickets pendientes · 1 de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70869-A334-4BA7-90F0-172E1A24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5543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15 tickets no terminales; ordenados del más reciente al más antiguo.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69CA6-0839-4D5E-8358-3C05F335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4865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AE751-29E7-4B1E-8AAB-76B808F6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811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Tickets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F2B16-71A9-4B2E-85C8-06FB7FE1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9575" y="1543050"/>
          <a:ext xmlns:a="http://schemas.openxmlformats.org/drawingml/2006/main" cx="11372850" cy="4419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3810000"/>
                <a:gridCol w="2000250"/>
                <a:gridCol w="1619250"/>
                <a:gridCol w="1381125"/>
                <a:gridCol w="1685925"/>
              </a:tblGrid>
              <a:tr h="5524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Asunto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Reportado por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Área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Apertura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TKT-67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AJUSTE DE VERSIONES EN EL PREVALIDADOR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Camilo Perez Rojo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1"/>
                          </a:solidFill>
                        </a:rPr>
                        <a:t>Abierto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01 de sept de 26</a:t>
                      </a:r>
                    </a:p>
                  </a:txBody>
                  <a:tcPr marL="95250" marR="95250" marT="57150" marB="57150" anchor="ctr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TKT-66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Claridad en cargue de documento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Russell 2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1"/>
                          </a:solidFill>
                        </a:rPr>
                        <a:t>Abierto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31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TKT-65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Vista previa de archivos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YULI ATEHORTUA GIRALDO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1"/>
                          </a:solidFill>
                        </a:rPr>
                        <a:t>Abierto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28 de ago de 26</a:t>
                      </a:r>
                    </a:p>
                  </a:txBody>
                  <a:tcPr marL="95250" marR="95250" marT="57150" marB="57150" anchor="ctr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TKT-64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Rehomologación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YULI ATEHORTUA GIRALDO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1"/>
                          </a:solidFill>
                        </a:rPr>
                        <a:t>Abierto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28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TKT-63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no puedo cargar el balance del cliente muma mes de julio de 2…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Russell 3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1"/>
                          </a:solidFill>
                        </a:rPr>
                        <a:t>Abierto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27 de ago de 26</a:t>
                      </a:r>
                    </a:p>
                  </a:txBody>
                  <a:tcPr marL="95250" marR="95250" marT="57150" marB="57150" anchor="ctr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TKT-62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Parametrizar tabla de agrupadores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Luisa Martinez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2E8E"/>
                          </a:solidFill>
                        </a:rPr>
                        <a:t>En evaluación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26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TKT-61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Mapeo valor total de inventario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YULI ATEHORTUA GIRALDO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2E8E"/>
                          </a:solidFill>
                        </a:rPr>
                        <a:t>En evaluación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26 de ago de 26</a:t>
                      </a:r>
                    </a:p>
                  </a:txBody>
                  <a:tcPr marL="95250" marR="952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5019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5BFB97-6B6C-432A-A43B-03A7A338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Tickets pendientes · 2 de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5C9E3-545E-4DC3-BBA3-34F803AC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5543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15 tickets no terminales; ordenados del más reciente al más antiguo.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52C22-CD73-4797-B5D7-0D6E4191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4865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82F03-3641-40A4-BF04-B0B30383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811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Tickets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D5F25-DFA6-4D38-8847-5B0238C5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9575" y="1543050"/>
          <a:ext xmlns:a="http://schemas.openxmlformats.org/drawingml/2006/main" cx="11372850" cy="4419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3810000"/>
                <a:gridCol w="2000250"/>
                <a:gridCol w="1619250"/>
                <a:gridCol w="1381125"/>
                <a:gridCol w="1685925"/>
              </a:tblGrid>
              <a:tr h="5524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Asunto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Reportado por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Área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Apertura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TKT-59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Revisar con Erica - Visual de plan estandar russell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Luisa Martinez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Mapeo plan estándar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1"/>
                          </a:solidFill>
                        </a:rPr>
                        <a:t>Abierto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26 de ago de 26</a:t>
                      </a:r>
                    </a:p>
                  </a:txBody>
                  <a:tcPr marL="95250" marR="95250" marT="57150" marB="57150" anchor="ctr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TKT-57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ERROR EN PÁGINA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Camilo Perez Rojo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6FA7"/>
                          </a:solidFill>
                        </a:rPr>
                        <a:t>En proceso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26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TKT-56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Cierre de asignación de cuenta automático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russell plataforma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2E8E"/>
                          </a:solidFill>
                        </a:rPr>
                        <a:t>En evaluación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TKT-24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F18] Inversiones Pevel — campos poco claros en el…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2E8E"/>
                          </a:solidFill>
                        </a:rPr>
                        <a:t>En evaluación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TKT-20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F14] ImpactHub — homologación sin respetar el pri…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2E8E"/>
                          </a:solidFill>
                        </a:rPr>
                        <a:t>En evaluación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TKT-8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[INV · Yuli F4] El Zarzal — importación masiva de equivalenci…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2E8E"/>
                          </a:solidFill>
                        </a:rPr>
                        <a:t>En evaluación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TKT-4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CAMILO- CRUCE CONTABLE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Russell 1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1"/>
                          </a:solidFill>
                        </a:rPr>
                        <a:t>Abierto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19 de ago de 26</a:t>
                      </a:r>
                    </a:p>
                  </a:txBody>
                  <a:tcPr marL="95250" marR="952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2232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63F8F3-C598-4EFD-9555-7AF99DAB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Tickets pendientes · 3 de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93544-5F3B-4F9D-9D24-EEE4131E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5543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15 tickets no terminales; ordenados del más reciente al más antiguo.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5369C-CC25-433D-8836-418833BA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4865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DE401-EE4B-4C5F-9B23-80686EE0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811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Tickets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41380-8B05-4618-805D-0C784B4C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9575" y="1543050"/>
          <a:ext xmlns:a="http://schemas.openxmlformats.org/drawingml/2006/main" cx="11372850" cy="1104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3810000"/>
                <a:gridCol w="2000250"/>
                <a:gridCol w="1619250"/>
                <a:gridCol w="1381125"/>
                <a:gridCol w="1685925"/>
              </a:tblGrid>
              <a:tr h="5524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Asunto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Reportado por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Área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Apertura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TKT-2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CAMILO- Validación de cuentas asociadas al kárdex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Russell 1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1"/>
                          </a:solidFill>
                        </a:rPr>
                        <a:t>Abierto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19 de ago de 26</a:t>
                      </a:r>
                    </a:p>
                  </a:txBody>
                  <a:tcPr marL="95250" marR="952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7375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75BDF2-3F99-4177-B3CF-AEA53A77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Tickets finalizados · 1 de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E1EAA-C463-4DDA-83DD-4633AC16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53 tickets en estado Resuelto o Cerrado; la columna Estado conserva la distinción.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AFB49-6439-4F35-82B4-867384F9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8730"/>
            <a:ext cx="11391900" cy="5082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58E4F-C3F4-409D-A9F1-2B3F99B9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811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Tickets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BBA0E-8A86-44B9-8DC1-68B2781E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9575" y="1543050"/>
          <a:ext xmlns:a="http://schemas.openxmlformats.org/drawingml/2006/main" cx="1137285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3810000"/>
                <a:gridCol w="2000250"/>
                <a:gridCol w="1619250"/>
                <a:gridCol w="1381125"/>
                <a:gridCol w="1685925"/>
              </a:tblGrid>
              <a:tr h="4931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Asunto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Reportado por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Área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Apertura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TKT-20260826-0DDBA61D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Opcion de descargar borrador en excel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Luisa Martinez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26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TKT-60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 rutas para homologar cuentas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Luisa Martinez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Mapeo plan estándar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26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TKT-58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 por cuenta, que sale novedad como si fuera por tercer…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Luisa Martinez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Borrador 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26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TKT-55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Asignación de cuentas a los grupos de inventario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russell plataforma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TKT-54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F31] Transportes Gómez — terceros, descuadre y…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TKT-53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F30] Laboratorios Mineralin — cuenta para saldo…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TKT-52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F29] Inversiones Los Mangos — terceros tomados…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TKT-51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F23] Pure Nature — cuentas para pagos de impues…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76176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B15303-5983-420C-AF8B-33AE6917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Tickets finalizados · 2 de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59EF7-1AFA-4EB7-87B8-9DF2610C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53 tickets en estado Resuelto o Cerrado; la columna Estado conserva la distinción.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CEC16-80D1-41AD-802C-ADE1A7B4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8730"/>
            <a:ext cx="11391900" cy="4956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30637-1C11-4764-B23B-7999F7AA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811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Tickets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A0A82-C0D5-4BFB-947A-AA272D38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627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10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9575" y="1543050"/>
          <a:ext xmlns:a="http://schemas.openxmlformats.org/drawingml/2006/main" cx="1137285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3810000"/>
                <a:gridCol w="2000250"/>
                <a:gridCol w="1619250"/>
                <a:gridCol w="1381125"/>
                <a:gridCol w="1685925"/>
              </a:tblGrid>
              <a:tr h="4931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Asunto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Reportado por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Área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Apertura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TKT-50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F20] Sistemas contra Incendios — naturaleza de…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TKT-49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F19] Sistemas contra Incendios — costos homolog…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TKT-48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F18] Redplas — cuentas duplicadas por dos colum…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TKT-47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F17] Redplas — conceptos distintos agrupados en…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TKT-46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F16] Redplas — naturaleza de devoluciones y pro…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TKT-45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F15] Redplas — naturaleza contable de pérdidas…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TKT-44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F14] Redplas — costo laboral 72053305 homologad…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6B3F"/>
                          </a:solidFill>
                        </a:rPr>
                        <a:t>Resuelto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TKT-43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F13] Redplas — descuentos en compras homologado…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6B3F"/>
                          </a:solidFill>
                        </a:rPr>
                        <a:t>Resuelto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71080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25049A-14BA-4E49-9D79-897CC92F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Tickets finalizados · 3 de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F5C61-18E2-4D15-81EB-E3FC616D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53 tickets en estado Resuelto o Cerrado; la columna Estado conserva la distinción.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6FFF5-2ED8-4309-8F41-BFD00167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8730"/>
            <a:ext cx="11391900" cy="4956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A273C-688C-4D0F-8579-ED5F216B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811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Tickets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217BC-93DF-4775-BAB8-4C3E7B6A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627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11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9575" y="1543050"/>
          <a:ext xmlns:a="http://schemas.openxmlformats.org/drawingml/2006/main" cx="1137285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3810000"/>
                <a:gridCol w="2000250"/>
                <a:gridCol w="1619250"/>
                <a:gridCol w="1381125"/>
                <a:gridCol w="1685925"/>
              </a:tblGrid>
              <a:tr h="4931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Asunto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Reportado por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Área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Apertura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TKT-42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F12] Redplas — alerta de naturaleza por saldo d…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TKT-41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F11] Redplas — homologación de depreciación 152…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TKT-40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F10] Redplas — códigos totalizadores interpreta…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TKT-39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F9] Promotora — naturaleza contable de devoluci…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TKT-38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F8] Promotora — cuenta para impuesto a la rique…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TKT-37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F7] Promotora — cuenta 12055510 homologada en p…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TKT-36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F6] Promotora — naturaleza contable de la cuent…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TKT-35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F5] Promotora — alertas de naturaleza menores a…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26764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69D50D-0E9C-4ADE-886C-5825E3C6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Tickets finalizados · 4 de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9FBDF-7778-4D60-A185-1389C8A0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53 tickets en estado Resuelto o Cerrado; la columna Estado conserva la distinción.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C8929-7577-4129-BAF5-72EB4E0A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8730"/>
            <a:ext cx="11391900" cy="4956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B0CF7-F9E4-498F-BBDF-E4F43F30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811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Tickets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81C98-0D90-473F-A5F1-4E761C5C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627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9575" y="1543050"/>
          <a:ext xmlns:a="http://schemas.openxmlformats.org/drawingml/2006/main" cx="1137285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3810000"/>
                <a:gridCol w="2000250"/>
                <a:gridCol w="1619250"/>
                <a:gridCol w="1381125"/>
                <a:gridCol w="1685925"/>
              </a:tblGrid>
              <a:tr h="4931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Asunto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Reportado por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Área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Apertura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TKT-34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Camilo F4] Promotora — cuenta 510572 homologada en pas…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TKT-33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F28] Aceros Mapa — ubicación, deshacer y recálcul…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TKT-32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F27] IGB Motorcycle — balance por tercero de mayo…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TKT-31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F26] Ivanagro — diferencia que desaparece entre p…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TKT-30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F25] Cámara de Comercio — búsqueda o exportación…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TKT-29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F24] ESE Hospital — navegación horizontal de aler…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TKT-28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F23] Lasallista — fallo inicial, falso descuadre…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TKT-27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F22] Único Interior — propagación de naturaleza c…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53540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7E7319-4D40-461C-BDAC-F8F9E7A2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Tickets finalizados · 5 de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0D867-232B-4A4C-822B-5545EAEE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53 tickets en estado Resuelto o Cerrado; la columna Estado conserva la distinción.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50838-00A8-4DB6-9668-6047DB45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8730"/>
            <a:ext cx="11391900" cy="4956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C7892-73CC-487B-B484-18DC60C1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811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Tickets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27235-1105-4C0C-8BA2-CC9E8FEA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627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13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9575" y="1543050"/>
          <a:ext xmlns:a="http://schemas.openxmlformats.org/drawingml/2006/main" cx="1137285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3810000"/>
                <a:gridCol w="2000250"/>
                <a:gridCol w="1619250"/>
                <a:gridCol w="1381125"/>
                <a:gridCol w="1685925"/>
              </a:tblGrid>
              <a:tr h="4931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Asunto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Reportado por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Área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Apertura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TKT-26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F21] Montacargas Master — terceros interpretados…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TKT-25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F20] Naturfar — terceros interpretados como cuent…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TKT-23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F17] Grupo Marena — navegación de alertas y reten…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TKT-22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F16] Grupo La Congregación — descuadre, PCGA/NIIF…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TKT-21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F15] Grupo Formarte — solicitudes repetidas y hom…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6B3F"/>
                          </a:solidFill>
                        </a:rPr>
                        <a:t>Resuelto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TKT-19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F13] Equielect — diferencia de origen y alertas d…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TKT-18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F12] Co-Diesel — reclasificación de cuentas aplic…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TKT-17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F11] CIB — diferencias visibles solo en borrador…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77291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F8F4ED-77AE-42F6-8CB2-6E69DCED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Tickets finalizados · 6 de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0435A-3773-40F8-BE2C-BAC7B625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53 tickets en estado Resuelto o Cerrado; la columna Estado conserva la distinción.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8145D-6DC9-4989-95DB-CD06CC5F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8730"/>
            <a:ext cx="11391900" cy="4956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A97BC-9FD7-4357-A2F5-B6AC4075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811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Tickets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54768-55FE-42AF-A2A4-BA5C85B6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627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14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9575" y="1543050"/>
          <a:ext xmlns:a="http://schemas.openxmlformats.org/drawingml/2006/main" cx="1137285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3810000"/>
                <a:gridCol w="2000250"/>
                <a:gridCol w="1619250"/>
                <a:gridCol w="1381125"/>
                <a:gridCol w="1685925"/>
              </a:tblGrid>
              <a:tr h="4931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Asunto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Reportado por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Área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Apertura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TKT-16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F10] Coordinadora de Tanques — cuentas clase 7 ho…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6B3F"/>
                          </a:solidFill>
                        </a:rPr>
                        <a:t>Resuelto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TKT-15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F8] Armonía Cosmética — cuenta omitida y reclasif…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TKT-14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F6] Alarmar — cuenta clase 73 homologada en clase…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6B3F"/>
                          </a:solidFill>
                        </a:rPr>
                        <a:t>Resuelto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TKT-13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F4] Genius Sports — total del balance tomado como…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TKT-12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[BAL · Yuli F3] KOEN Pack — agrupación alterada por renglones…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Balance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TKT-11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[INV · Yuli F7] La Congregación — diferencia de $20.116 sin a…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TKT-10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[INV · Yuli F6] Autopartes — corrección de columnas, versione…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TKT-9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[INV · Yuli F5] Empaquetaduras Darrow — total del Kardex toma…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501873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4093B5-A6C0-4AE6-98AC-9821A8B7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Tickets finalizados · 7 de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D714A-8B14-4F7D-B63E-6AAF5002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53 tickets en estado Resuelto o Cerrado; la columna Estado conserva la distinción.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AAF94-F6EF-4127-828C-9CA7119B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8730"/>
            <a:ext cx="11391900" cy="4956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8047A-6DE3-4413-9959-13013B8F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811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Tickets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E9212-7595-478A-963A-7BE65859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627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9575" y="1543050"/>
          <a:ext xmlns:a="http://schemas.openxmlformats.org/drawingml/2006/main" cx="1137285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3810000"/>
                <a:gridCol w="2000250"/>
                <a:gridCol w="1619250"/>
                <a:gridCol w="1381125"/>
                <a:gridCol w="1685925"/>
              </a:tblGrid>
              <a:tr h="5524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Asunto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Reportado por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Área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Apertura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TKT-7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[INV · Yuli F3] Parque Explora — filtros, alertas y validació…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[INV · Yuli F2] Aceros Mapa — asociación de inventario a cuen…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24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TKT-5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Cuentas a 6 digitos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Luisa Martinez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20 de ago de 26</a:t>
                      </a:r>
                    </a:p>
                  </a:txBody>
                  <a:tcPr marL="95250" marR="95250" marT="57150" marB="57150" anchor="ctr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TKT-3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CAMILO- CRUCE CONTABLE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Russell 1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19 de ago de 26</a:t>
                      </a:r>
                    </a:p>
                  </a:txBody>
                  <a:tcPr marL="95250" marR="95250" marT="57150" marB="57150" anchor="ctr">
                    <a:solidFill>
                      <a:srgbClr val="F2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TKT-1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Opcion de comentario - en conciliacion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Victor Rivera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Inventarios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721"/>
                          </a:solidFill>
                        </a:rPr>
                        <a:t>Cerrado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721"/>
                          </a:solidFill>
                        </a:rPr>
                        <a:t>18 de ago de 26</a:t>
                      </a:r>
                    </a:p>
                  </a:txBody>
                  <a:tcPr marL="95250" marR="952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82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2026-09-01T18:05:42.3840000Z</dcterms:created>
  <dcterms:modified xsi:type="dcterms:W3CDTF">2026-09-01T18:05:42.3840000Z</dcterms:modified>
</coreProperties>
</file>